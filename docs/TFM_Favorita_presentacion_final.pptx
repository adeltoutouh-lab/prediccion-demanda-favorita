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8a3ae3e4df4dd1" /><Relationship Type="http://schemas.openxmlformats.org/officeDocument/2006/relationships/extended-properties" Target="/docProps/app.xml" Id="R746755558b294b7f" /><Relationship Type="http://schemas.openxmlformats.org/officeDocument/2006/relationships/officeDocument" Target="/ppt/presentation.xml" Id="R8e9db4ff45f74c7d" /></Relationships>
</file>

<file path=ppt/presentation.xml><?xml version="1.0" encoding="utf-8"?>
<p:presentation xmlns:p="http://schemas.openxmlformats.org/presentationml/2006/main">
  <p:sldMasterIdLst>
    <p:sldMasterId xmlns:r="http://schemas.openxmlformats.org/officeDocument/2006/relationships" id="2147483648" r:id="R1d549dee09c64f55"/>
  </p:sldMasterIdLst>
  <p:notesMasterIdLst>
    <p:notesMasterId xmlns:r="http://schemas.openxmlformats.org/officeDocument/2006/relationships" r:id="Rdd2ebe12dcb841f9"/>
  </p:notesMasterIdLst>
  <p:sldIdLst>
    <p:sldId xmlns:r="http://schemas.openxmlformats.org/officeDocument/2006/relationships" id="256" r:id="Rba61f29ff4574172"/>
    <p:sldId xmlns:r="http://schemas.openxmlformats.org/officeDocument/2006/relationships" id="257" r:id="R2f03e7bab5934414"/>
    <p:sldId xmlns:r="http://schemas.openxmlformats.org/officeDocument/2006/relationships" id="258" r:id="Rc407dd2035b64af3"/>
    <p:sldId xmlns:r="http://schemas.openxmlformats.org/officeDocument/2006/relationships" id="259" r:id="R4bbdefa1bb1a4b20"/>
    <p:sldId xmlns:r="http://schemas.openxmlformats.org/officeDocument/2006/relationships" id="260" r:id="Rd0984fe49fc34a26"/>
    <p:sldId xmlns:r="http://schemas.openxmlformats.org/officeDocument/2006/relationships" id="261" r:id="R2b8d633b293545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0ebdf577c34992" /><Relationship Type="http://schemas.openxmlformats.org/officeDocument/2006/relationships/slideMaster" Target="/ppt/slideMasters/slideMaster1.xml" Id="R1d549dee09c64f55" /><Relationship Type="http://schemas.openxmlformats.org/officeDocument/2006/relationships/notesMaster" Target="/ppt/notesMasters/notesMaster1.xml" Id="Rdd2ebe12dcb841f9" /><Relationship Type="http://schemas.openxmlformats.org/officeDocument/2006/relationships/presProps" Target="/ppt/presProps.xml" Id="Rae9d5ebcf6ef4cb2" /><Relationship Type="http://schemas.openxmlformats.org/officeDocument/2006/relationships/tableStyles" Target="/ppt/tableStyles.xml" Id="R4e32b5f9141c4ea3" /><Relationship Type="http://schemas.openxmlformats.org/officeDocument/2006/relationships/slide" Target="/ppt/slides/slide1.xml" Id="Rba61f29ff4574172" /><Relationship Type="http://schemas.openxmlformats.org/officeDocument/2006/relationships/slide" Target="/ppt/slides/slide2.xml" Id="R2f03e7bab5934414" /><Relationship Type="http://schemas.openxmlformats.org/officeDocument/2006/relationships/slide" Target="/ppt/slides/slide3.xml" Id="Rc407dd2035b64af3" /><Relationship Type="http://schemas.openxmlformats.org/officeDocument/2006/relationships/slide" Target="/ppt/slides/slide4.xml" Id="R4bbdefa1bb1a4b20" /><Relationship Type="http://schemas.openxmlformats.org/officeDocument/2006/relationships/slide" Target="/ppt/slides/slide5.xml" Id="Rd0984fe49fc34a26" /><Relationship Type="http://schemas.openxmlformats.org/officeDocument/2006/relationships/slide" Target="/ppt/slides/slide6.xml" Id="R2b8d633b293545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f0fd0ed4f4b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f24b0fdeeb4ff4" /><Relationship Type="http://schemas.openxmlformats.org/officeDocument/2006/relationships/notesMaster" Target="/ppt/notesMasters/notesMaster1.xml" Id="Rc6823f616f7f4a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deabd684164649" /><Relationship Type="http://schemas.openxmlformats.org/officeDocument/2006/relationships/notesMaster" Target="/ppt/notesMasters/notesMaster1.xml" Id="Rd70e8692160d48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50e7954b00493d" /><Relationship Type="http://schemas.openxmlformats.org/officeDocument/2006/relationships/notesMaster" Target="/ppt/notesMasters/notesMaster1.xml" Id="R0b4fa87aca2c45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cd8d8468a347e4" /><Relationship Type="http://schemas.openxmlformats.org/officeDocument/2006/relationships/notesMaster" Target="/ppt/notesMasters/notesMaster1.xml" Id="R6c14e748b04848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5c6a2c45d4672" /><Relationship Type="http://schemas.openxmlformats.org/officeDocument/2006/relationships/notesMaster" Target="/ppt/notesMasters/notesMaster1.xml" Id="Reaac2735244c42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8b5b5a08dc4933" /><Relationship Type="http://schemas.openxmlformats.org/officeDocument/2006/relationships/notesMaster" Target="/ppt/notesMasters/notesMaster1.xml" Id="Rb541c6cde56c40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 trabajo parte de una pregunta concreta: cómo preparar una previsión de ventas que ayude a un responsable de tienda a revisar las próximas dos semanas. He utilizado el dataset de Corporación Favorita y he construido un proceso que va desde los CSV hasta las previsiones y el proyecto de Power BI. El objetivo es predecir ventas registradas por tienda y familia. No hablo de demanda real porque no tengo información de stock ni de ventas que se hayan perdido. Todo el ejemplo se sitúa en agosto de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histórico contiene tres millones de filas y combina 54 tiendas con 33 familias, lo que da 1.782 series. He comprobado las claves, las fechas y los valores del objetivo. No hay duplicados en la clave, pero faltan cuatro días completos, todos en Navidad, y un 31,30% de las ventas son cero. Por eso he mantenido un calendario diario y he dejado como desconocidas las fechas sin datos. La gráfica muestra un patrón semanal con ventas medias mayores durante el fin de semana. Eso justifica empezar por un baseline semanal. Fuente: outputs/eda/summary.json y weekday_2017.csv; Kaggle Store Sales.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comparado un baseline, Ridge y LightGBM. El baseline repite la venta de siete días antes y es una referencia fácil de explicar. Ridge utiliza una relación lineal con regularización. LightGBM permite combinar variables con relaciones no lineales. Trabajo con 27 variables de calendario, promociones, tienda y ventas anteriores. No utilizo las transacciones ni el petróleo del día que estoy prediciendo. Para controlar el tamaño del experimento solo comparo dos configuraciones de LightGBM y una de Ridge. Los modelos comparten una ventana de 730 días y el mismo horizonte. Parámetros: config.json y src/models.py.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reservado tres bloques para seleccionar el modelo y un cuarto como test interno. Cada bloque dura 16 días completos. El punto más importante es que, al avanzar dentro del horizonte, cada modelo usa sus propias predicciones. Por ejemplo, desde el octavo día el baseline vuelve a utilizar lo que predijo en la semana anterior, no las ventas reales que ocurrieron después del corte. LightGBM de 63 hojas mejora al baseline en los tres bloques de validación. La elección queda fijada antes del test interno. Así evito elegir el modelo con la misma información con la que presento su resultado final. Fuentes: selection.json, metrics_by_fold.csv y tests/test_temporal.py.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el test interno, del 31 de julio al 15 de agosto, el MAE del baseline es 96,54 y el de LightGBM es 75,85. La reducción es del 21,43%. El WAPE baja de 20,67% a 16,24% y el RMSLE también mejora. Ridge queda cerca del baseline en MAE y tiene un RMSLE claramente peor, por lo que no lo escogería para este caso. La mejora del modelo elegido aparece en las 33 familias y en 51 de las 54 tiendas; las otras tres requieren revisión. No presento estos porcentajes como ahorro económico. Son errores de previsión medidos con datos reales de un bloque histórico. Fuente: outputs/metrics_summary.csv, metrics_by_family.csv y metrics_by_store.csv.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final incluye 28.512 previsiones para los 16 días siguientes y un proyecto nativo de Power BI con dos páginas. La primera permite filtrar por tienda, familia y modelo y exportar las previsiones. La segunda muestra los errores del test interno. He comprobado la estructura del informe y que sus CSV reproducen las métricas. Queda verificar la apertura y el refresco en Power BI Desktop. Como siguiente paso ampliaría el backtesting a otros periodos y validaría el dashboard con un usuario. Con datos de inventario también podría estudiar roturas de stock, pero con este dataset el alcance sigue siendo ventas. Fuentes: powerbi/Favorita.pbip y outputs/powerbi_validation.json.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931e0f5bec46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54509db8694d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11b861b2584c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16ad37fd9d44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b6207db4f942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ce0ce3c73d48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CE9E879-0DC4-4B67-8480-7D4A49A2A2E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052A93A-77B2-41B6-B514-1E780127B5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CBF2AA4-830B-4B15-A0F7-EB5736B254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6B42CBA-0385-4682-8F23-D3012FAE3CB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B23C90F-7CDF-45D1-B3E4-C2FB952A24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3EF21FA-EB93-486B-B9F6-BC10280257D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DC7D2E4-5C82-4FB7-8E93-CA2F0B190E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331578C-9AE2-44B5-BFB1-846701F28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CA05A22-050C-441F-ADF0-19ABD037D7D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3B73B8E-F826-4945-9600-59CE1A7BA3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E0D76B6-7563-4B48-9547-9461C0BD91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E42CEE2-0103-4D49-BCB7-02201A0594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F34C7E4-2AC8-4802-99FC-FCCE696186E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8A11AE7-F590-47DE-BF52-3BA5BCFE24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F78DD10-621F-45F3-99D4-3B7EB781CC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b42052d9e24e7e" /><Relationship Type="http://schemas.openxmlformats.org/officeDocument/2006/relationships/slideLayout" Target="/ppt/slideLayouts/slideLayout1.xml" Id="Reac71603734840ae" /><Relationship Type="http://schemas.openxmlformats.org/officeDocument/2006/relationships/slideLayout" Target="/ppt/slideLayouts/slideLayout2.xml" Id="R7be4347a80ed4e52" /><Relationship Type="http://schemas.openxmlformats.org/officeDocument/2006/relationships/slideLayout" Target="/ppt/slideLayouts/slideLayout3.xml" Id="R011965d100b94d82" /><Relationship Type="http://schemas.openxmlformats.org/officeDocument/2006/relationships/slideLayout" Target="/ppt/slideLayouts/slideLayout4.xml" Id="Rb019ffef63034cb1" /><Relationship Type="http://schemas.openxmlformats.org/officeDocument/2006/relationships/slideLayout" Target="/ppt/slideLayouts/slideLayout5.xml" Id="R2cedb1f7bd4b4e63" /><Relationship Type="http://schemas.openxmlformats.org/officeDocument/2006/relationships/slideLayout" Target="/ppt/slideLayouts/slideLayout6.xml" Id="R7f9eff77df6b4e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c71603734840ae"/>
    <p:sldLayoutId xmlns:r="http://schemas.openxmlformats.org/officeDocument/2006/relationships" id="2147483650" r:id="R7be4347a80ed4e52"/>
    <p:sldLayoutId xmlns:r="http://schemas.openxmlformats.org/officeDocument/2006/relationships" id="2147483651" r:id="R011965d100b94d82"/>
    <p:sldLayoutId xmlns:r="http://schemas.openxmlformats.org/officeDocument/2006/relationships" id="2147483652" r:id="Rb019ffef63034cb1"/>
    <p:sldLayoutId xmlns:r="http://schemas.openxmlformats.org/officeDocument/2006/relationships" id="2147483653" r:id="R2cedb1f7bd4b4e63"/>
    <p:sldLayoutId xmlns:r="http://schemas.openxmlformats.org/officeDocument/2006/relationships" id="2147483654" r:id="R7f9eff77df6b4e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3c2597ecb84bc5" /><Relationship Type="http://schemas.openxmlformats.org/officeDocument/2006/relationships/notesSlide" Target="/ppt/notesSlides/notesSlide1.xml" Id="R85bed566165a4e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4639a75c1c4aaa" /><Relationship Type="http://schemas.openxmlformats.org/officeDocument/2006/relationships/chart" Target="/ppt/slides/charts/chart1.xml" Id="R51cd3f55fb34458f" /><Relationship Type="http://schemas.openxmlformats.org/officeDocument/2006/relationships/notesSlide" Target="/ppt/notesSlides/notesSlide2.xml" Id="R20e2c91be8ff4e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d95cde8bdc4c92" /><Relationship Type="http://schemas.openxmlformats.org/officeDocument/2006/relationships/notesSlide" Target="/ppt/notesSlides/notesSlide3.xml" Id="R583a0b9034cd49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1f4b5e24bf4f88" /><Relationship Type="http://schemas.openxmlformats.org/officeDocument/2006/relationships/notesSlide" Target="/ppt/notesSlides/notesSlide4.xml" Id="R99825f8409cf43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5d6a7b09344d8a" /><Relationship Type="http://schemas.openxmlformats.org/officeDocument/2006/relationships/chart" Target="/ppt/slides/charts/chart2.xml" Id="R811ecb31d2a74153" /><Relationship Type="http://schemas.openxmlformats.org/officeDocument/2006/relationships/notesSlide" Target="/ppt/notesSlides/notesSlide5.xml" Id="R24e00291475146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85ddaec8004a90" /><Relationship Type="http://schemas.openxmlformats.org/officeDocument/2006/relationships/notesSlide" Target="/ppt/notesSlides/notesSlide6.xml" Id="Re9e2ea7512734a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Bitstream Charter"/>
                <a:ea typeface="Bitstream Charter"/>
                <a:cs typeface="Bitstream Charter"/>
              </a:rPr>
              <a:t>Venta media por día · 2017</a:t>
            </a:r>
          </a:p>
        </c:rich>
      </c:tx>
      <c:overlay val="0"/>
      <c:txPr>
        <a:bodyPr xmlns:a="http://schemas.openxmlformats.org/drawingml/2006/main" anchorCtr="1"/>
        <a:lstStyle xmlns:a="http://schemas.openxmlformats.org/drawingml/2006/main"/>
        <a:p xmlns:a="http://schemas.openxmlformats.org/drawingml/2006/main">
          <a:pPr>
            <a:defRPr sz="2025">
              <a:latin typeface="Bitstream Charter"/>
              <a:ea typeface="Bitstream Charter"/>
              <a:cs typeface="Bitstream Charter"/>
            </a:defRPr>
          </a:pPr>
        </a:p>
      </c:txPr>
    </c:title>
    <c:plotArea>
      <c:barChart>
        <c:barDir val="col"/>
        <c:grouping val="clustered"/>
        <c:varyColors val="0"/>
        <c:ser>
          <c:idx val="0"/>
          <c:order val="0"/>
          <c:tx>
            <c:v>Media de sales</c:v>
          </c:tx>
          <c:spPr>
            <a:solidFill xmlns:a="http://schemas.openxmlformats.org/drawingml/2006/main">
              <a:srgbClr val="246D88"/>
            </a:solidFill>
          </c:spPr>
          <c:cat>
            <c:strRef>
              <c:f>'Chart Data'!$A$2:$A$8</c:f>
              <c:strCache>
                <c:ptCount val="7"/>
                <c:pt idx="0">
                  <c:v>Lun</c:v>
                </c:pt>
                <c:pt idx="1">
                  <c:v>Mar</c:v>
                </c:pt>
                <c:pt idx="2">
                  <c:v>Mié</c:v>
                </c:pt>
                <c:pt idx="3">
                  <c:v>Jue</c:v>
                </c:pt>
                <c:pt idx="4">
                  <c:v>Vie</c:v>
                </c:pt>
                <c:pt idx="5">
                  <c:v>Sáb</c:v>
                </c:pt>
                <c:pt idx="6">
                  <c:v>Dom</c:v>
                </c:pt>
              </c:strCache>
            </c:strRef>
          </c:cat>
          <c:val>
            <c:numRef>
              <c:f>'Chart Data'!$B$2:$B$8</c:f>
              <c:numCache>
                <c:formatCode>0</c:formatCode>
                <c:ptCount val="7"/>
                <c:pt idx="0">
                  <c:v>465.26</c:v>
                </c:pt>
                <c:pt idx="1">
                  <c:v>432.76</c:v>
                </c:pt>
                <c:pt idx="2">
                  <c:v>454.81</c:v>
                </c:pt>
                <c:pt idx="3">
                  <c:v>377.22</c:v>
                </c:pt>
                <c:pt idx="4">
                  <c:v>450.9</c:v>
                </c:pt>
                <c:pt idx="5">
                  <c:v>582.07</c:v>
                </c:pt>
                <c:pt idx="6">
                  <c:v>596.17</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Bitstream Charter"/>
                <a:ea typeface="Bitstream Charter"/>
                <a:cs typeface="Bitstream Charter"/>
              </a:defRPr>
            </a:pPr>
          </a:p>
        </c:txPr>
        <c:crossAx val="48672768"/>
      </c:catAx>
      <c:valAx>
        <c:axId val="48672768"/>
        <c:scaling>
          <c:orientation val="minMax"/>
          <c:max val="65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latin typeface="Bitstream Charter"/>
                <a:ea typeface="Bitstream Charter"/>
                <a:cs typeface="Bitstream Charter"/>
              </a:rPr>
              <a:t>MAE · menor es mejor</a:t>
            </a:r>
          </a:p>
        </c:rich>
      </c:tx>
      <c:overlay val="0"/>
      <c:txPr>
        <a:bodyPr xmlns:a="http://schemas.openxmlformats.org/drawingml/2006/main" anchorCtr="1"/>
        <a:lstStyle xmlns:a="http://schemas.openxmlformats.org/drawingml/2006/main"/>
        <a:p xmlns:a="http://schemas.openxmlformats.org/drawingml/2006/main">
          <a:pPr>
            <a:defRPr sz="2100">
              <a:latin typeface="Bitstream Charter"/>
              <a:ea typeface="Bitstream Charter"/>
              <a:cs typeface="Bitstream Charter"/>
            </a:defRPr>
          </a:pPr>
        </a:p>
      </c:txPr>
    </c:title>
    <c:plotArea>
      <c:barChart>
        <c:barDir val="col"/>
        <c:grouping val="clustered"/>
        <c:varyColors val="0"/>
        <c:ser>
          <c:idx val="0"/>
          <c:order val="0"/>
          <c:tx>
            <c:v>MAE</c:v>
          </c:tx>
          <c:spPr>
            <a:solidFill xmlns:a="http://schemas.openxmlformats.org/drawingml/2006/main">
              <a:srgbClr val="246D88"/>
            </a:solidFill>
          </c:spPr>
          <c:cat>
            <c:strRef>
              <c:f>'Chart Data'!$A$2:$A$4</c:f>
              <c:strCache>
                <c:ptCount val="3"/>
                <c:pt idx="0">
                  <c:v>Baseline</c:v>
                </c:pt>
                <c:pt idx="1">
                  <c:v>Ridge</c:v>
                </c:pt>
                <c:pt idx="2">
                  <c:v>LightGBM</c:v>
                </c:pt>
              </c:strCache>
            </c:strRef>
          </c:cat>
          <c:val>
            <c:numRef>
              <c:f>'Chart Data'!$B$2:$B$4</c:f>
              <c:numCache>
                <c:formatCode>0</c:formatCode>
                <c:ptCount val="3"/>
                <c:pt idx="0">
                  <c:v>96.54</c:v>
                </c:pt>
                <c:pt idx="1">
                  <c:v>94.55</c:v>
                </c:pt>
                <c:pt idx="2">
                  <c:v>75.85</c:v>
                </c:pt>
              </c:numCache>
            </c:numRef>
          </c:val>
        </c:ser>
        <c:dLbls>
          <c:numFmt formatCode="0.00"/>
          <c:txPr>
            <a:bodyPr xmlns:a="http://schemas.openxmlformats.org/drawingml/2006/main" anchorCtr="1"/>
            <a:lstStyle xmlns:a="http://schemas.openxmlformats.org/drawingml/2006/main"/>
            <a:p xmlns:a="http://schemas.openxmlformats.org/drawingml/2006/main">
              <a:pPr>
                <a:defRPr sz="1800">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Bitstream Charter"/>
                <a:ea typeface="Bitstream Charter"/>
                <a:cs typeface="Bitstream Charter"/>
              </a:defRPr>
            </a:pPr>
          </a:p>
        </c:txPr>
        <c:crossAx val="48672768"/>
      </c:catAx>
      <c:valAx>
        <c:axId val="48672768"/>
        <c:scaling>
          <c:orientation val="minMax"/>
          <c:max val="11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Bitstream Charter"/>
                <a:ea typeface="Bitstream Charter"/>
                <a:cs typeface="Bitstream Charter"/>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7DE71B-3937-48A4-8988-F3999A6C4CCF}"/>
              </a:ext>
            </a:extLst>
          </p:cNvPr>
          <p:cNvSpPr>
            <a:spLocks xmlns:a="http://schemas.openxmlformats.org/drawingml/2006/main" noGrp="1"/>
          </p:cNvSpPr>
          <p:nvPr/>
        </p:nvSpPr>
        <p:spPr>
          <a:xfrm xmlns:a="http://schemas.openxmlformats.org/drawingml/2006/main">
            <a:off x="685800" y="142875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4445A"/>
                </a:solidFill>
                <a:latin typeface="Bitstream Charter"/>
                <a:ea typeface="Bitstream Charter"/>
                <a:cs typeface="Bitstream Charter"/>
              </a:defRPr>
            </a:pPr>
            <a:r>
              <a:rPr sz="4350" b="1">
                <a:solidFill>
                  <a:srgbClr val="24445A"/>
                </a:solidFill>
                <a:latin typeface="Bitstream Charter"/>
                <a:ea typeface="Bitstream Charter"/>
                <a:cs typeface="Bitstream Charter"/>
              </a:rPr>
              <a:t>Predicción de ventas</a:t>
            </a:r>
          </a:p>
          <a:p xmlns:a="http://schemas.openxmlformats.org/drawingml/2006/main">
            <a:pPr>
              <a:defRPr sz="4350" b="1">
                <a:solidFill>
                  <a:srgbClr val="24445A"/>
                </a:solidFill>
                <a:latin typeface="Bitstream Charter"/>
                <a:ea typeface="Bitstream Charter"/>
                <a:cs typeface="Bitstream Charter"/>
              </a:defRPr>
            </a:pPr>
            <a:r>
              <a:rPr sz="4350" b="1">
                <a:solidFill>
                  <a:srgbClr val="24445A"/>
                </a:solidFill>
                <a:latin typeface="Bitstream Charter"/>
                <a:ea typeface="Bitstream Charter"/>
                <a:cs typeface="Bitstream Charter"/>
              </a:rPr>
              <a:t>en Corporación Favorita</a:t>
            </a:r>
          </a:p>
        </p:txBody>
      </p:sp>
      <p:sp>
        <p:nvSpPr>
          <p:cNvPr id="2" name="">
            <a:extLst xmlns:a="http://schemas.openxmlformats.org/drawingml/2006/main">
              <a:ext uri="{FF2B5EF4-FFF2-40B4-BE49-F238E27FC236}">
                <a16:creationId xmlns:a16="http://schemas.microsoft.com/office/drawing/2014/main" id="{37699EF8-0969-42DF-BB3F-273FDC7AE11B}"/>
              </a:ext>
            </a:extLst>
          </p:cNvPr>
          <p:cNvSpPr>
            <a:spLocks xmlns:a="http://schemas.openxmlformats.org/drawingml/2006/main" noGrp="1"/>
          </p:cNvSpPr>
          <p:nvPr/>
        </p:nvSpPr>
        <p:spPr>
          <a:xfrm xmlns:a="http://schemas.openxmlformats.org/drawingml/2006/main">
            <a:off x="704850" y="31623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53440"/>
                </a:solidFill>
                <a:latin typeface="Bitstream Charter"/>
                <a:ea typeface="Bitstream Charter"/>
                <a:cs typeface="Bitstream Charter"/>
              </a:defRPr>
            </a:pPr>
            <a:r>
              <a:rPr sz="2325" b="0">
                <a:solidFill>
                  <a:srgbClr val="253440"/>
                </a:solidFill>
                <a:latin typeface="Bitstream Charter"/>
                <a:ea typeface="Bitstream Charter"/>
                <a:cs typeface="Bitstream Charter"/>
              </a:rPr>
              <a:t>Previsión de 16 días por tienda y familia</a:t>
            </a:r>
          </a:p>
        </p:txBody>
      </p:sp>
      <p:sp>
        <p:nvSpPr>
          <p:cNvPr id="3" name="">
            <a:extLst xmlns:a="http://schemas.openxmlformats.org/drawingml/2006/main">
              <a:ext uri="{FF2B5EF4-FFF2-40B4-BE49-F238E27FC236}">
                <a16:creationId xmlns:a16="http://schemas.microsoft.com/office/drawing/2014/main" id="{978647BD-28F3-4643-947E-885B797C3DAF}"/>
              </a:ext>
            </a:extLst>
          </p:cNvPr>
          <p:cNvSpPr>
            <a:spLocks xmlns:a="http://schemas.openxmlformats.org/drawingml/2006/main" noGrp="1"/>
          </p:cNvSpPr>
          <p:nvPr/>
        </p:nvSpPr>
        <p:spPr>
          <a:xfrm xmlns:a="http://schemas.openxmlformats.org/drawingml/2006/main">
            <a:off x="704850" y="43815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440"/>
                </a:solidFill>
                <a:latin typeface="Bitstream Charter"/>
                <a:ea typeface="Bitstream Charter"/>
                <a:cs typeface="Bitstream Charter"/>
              </a:defRPr>
            </a:pPr>
            <a:r>
              <a:rPr sz="1875" b="0">
                <a:solidFill>
                  <a:srgbClr val="253440"/>
                </a:solidFill>
                <a:latin typeface="Bitstream Charter"/>
                <a:ea typeface="Bitstream Charter"/>
                <a:cs typeface="Bitstream Charter"/>
              </a:rPr>
              <a:t>Adel Toutouh El Bouchti</a:t>
            </a:r>
          </a:p>
          <a:p xmlns:a="http://schemas.openxmlformats.org/drawingml/2006/main">
            <a:pPr>
              <a:defRPr sz="1875" b="0">
                <a:solidFill>
                  <a:srgbClr val="253440"/>
                </a:solidFill>
                <a:latin typeface="Bitstream Charter"/>
                <a:ea typeface="Bitstream Charter"/>
                <a:cs typeface="Bitstream Charter"/>
              </a:defRPr>
            </a:pPr>
            <a:r>
              <a:rPr sz="1875" b="0">
                <a:solidFill>
                  <a:srgbClr val="253440"/>
                </a:solidFill>
                <a:latin typeface="Bitstream Charter"/>
                <a:ea typeface="Bitstream Charter"/>
                <a:cs typeface="Bitstream Charter"/>
              </a:rPr>
              <a:t>Trabajo Final de Máster · Data Science e Inteligencia Artificial</a:t>
            </a:r>
          </a:p>
        </p:txBody>
      </p:sp>
      <p:sp>
        <p:nvSpPr>
          <p:cNvPr id="4" name="">
            <a:extLst xmlns:a="http://schemas.openxmlformats.org/drawingml/2006/main">
              <a:ext uri="{FF2B5EF4-FFF2-40B4-BE49-F238E27FC236}">
                <a16:creationId xmlns:a16="http://schemas.microsoft.com/office/drawing/2014/main" id="{A68CD11F-A1B1-4328-BE1E-ED2C90DD73BA}"/>
              </a:ext>
            </a:extLst>
          </p:cNvPr>
          <p:cNvSpPr>
            <a:spLocks xmlns:a="http://schemas.openxmlformats.org/drawingml/2006/main" noGrp="1"/>
          </p:cNvSpPr>
          <p:nvPr/>
        </p:nvSpPr>
        <p:spPr>
          <a:xfrm xmlns:a="http://schemas.openxmlformats.org/drawingml/2006/main">
            <a:off x="704850" y="59340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482"/>
                </a:solidFill>
                <a:latin typeface="Bitstream Charter"/>
                <a:ea typeface="Bitstream Charter"/>
                <a:cs typeface="Bitstream Charter"/>
              </a:defRPr>
            </a:pPr>
            <a:r>
              <a:rPr sz="1575" b="0">
                <a:solidFill>
                  <a:srgbClr val="647482"/>
                </a:solidFill>
                <a:latin typeface="Bitstream Charter"/>
                <a:ea typeface="Bitstream Charter"/>
                <a:cs typeface="Bitstream Charter"/>
              </a:rPr>
              <a:t>Demostración histórica · agosto de 2017</a:t>
            </a:r>
          </a:p>
        </p:txBody>
      </p:sp>
    </p:spTree>
    <p:extLst>
      <p:ext uri="{BB962C8B-B14F-4D97-AF65-F5344CB8AC3E}">
        <p14:creationId xmlns:p14="http://schemas.microsoft.com/office/powerpoint/2010/main" val="12424647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B490D-91ED-47DD-84C6-ACBA9F912A30}"/>
              </a:ext>
            </a:extLst>
          </p:cNvPr>
          <p:cNvSpPr>
            <a:spLocks xmlns:a="http://schemas.openxmlformats.org/drawingml/2006/main" noGrp="1"/>
          </p:cNvSpPr>
          <p:nvPr/>
        </p:nvSpPr>
        <p:spPr>
          <a:xfrm xmlns:a="http://schemas.openxmlformats.org/drawingml/2006/main">
            <a:off x="609600" y="4095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445A"/>
                </a:solidFill>
                <a:latin typeface="Bitstream Charter"/>
                <a:ea typeface="Bitstream Charter"/>
                <a:cs typeface="Bitstream Charter"/>
              </a:defRPr>
            </a:pPr>
            <a:r>
              <a:rPr sz="3300" b="1">
                <a:solidFill>
                  <a:srgbClr val="24445A"/>
                </a:solidFill>
                <a:latin typeface="Bitstream Charter"/>
                <a:ea typeface="Bitstream Charter"/>
                <a:cs typeface="Bitstream Charter"/>
              </a:rPr>
              <a:t>Datos y primer análisis</a:t>
            </a:r>
          </a:p>
        </p:txBody>
      </p:sp>
      <p:sp>
        <p:nvSpPr>
          <p:cNvPr id="2" name="">
            <a:extLst xmlns:a="http://schemas.openxmlformats.org/drawingml/2006/main">
              <a:ext uri="{FF2B5EF4-FFF2-40B4-BE49-F238E27FC236}">
                <a16:creationId xmlns:a16="http://schemas.microsoft.com/office/drawing/2014/main" id="{AE7CAF13-3CBB-45C9-9F41-60C849C244FE}"/>
              </a:ext>
            </a:extLst>
          </p:cNvPr>
          <p:cNvSpPr>
            <a:spLocks xmlns:a="http://schemas.openxmlformats.org/drawingml/2006/main" noGrp="1"/>
          </p:cNvSpPr>
          <p:nvPr/>
        </p:nvSpPr>
        <p:spPr>
          <a:xfrm xmlns:a="http://schemas.openxmlformats.org/drawingml/2006/main">
            <a:off x="609600" y="6381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TFM · Adel Toutouh El Bouchti</a:t>
            </a:r>
          </a:p>
        </p:txBody>
      </p:sp>
      <p:sp>
        <p:nvSpPr>
          <p:cNvPr id="3" name="">
            <a:extLst xmlns:a="http://schemas.openxmlformats.org/drawingml/2006/main">
              <a:ext uri="{FF2B5EF4-FFF2-40B4-BE49-F238E27FC236}">
                <a16:creationId xmlns:a16="http://schemas.microsoft.com/office/drawing/2014/main" id="{A5B2C3C5-3934-4C17-96D5-1480CDFDB7BC}"/>
              </a:ext>
            </a:extLst>
          </p:cNvPr>
          <p:cNvSpPr>
            <a:spLocks xmlns:a="http://schemas.openxmlformats.org/drawingml/2006/main" noGrp="1"/>
          </p:cNvSpPr>
          <p:nvPr/>
        </p:nvSpPr>
        <p:spPr>
          <a:xfrm xmlns:a="http://schemas.openxmlformats.org/drawingml/2006/main">
            <a:off x="1118235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2</a:t>
            </a:r>
          </a:p>
        </p:txBody>
      </p:sp>
      <p:sp>
        <p:nvSpPr>
          <p:cNvPr id="4" name="">
            <a:extLst xmlns:a="http://schemas.openxmlformats.org/drawingml/2006/main">
              <a:ext uri="{FF2B5EF4-FFF2-40B4-BE49-F238E27FC236}">
                <a16:creationId xmlns:a16="http://schemas.microsoft.com/office/drawing/2014/main" id="{135E95AF-302D-4707-B638-610D30B2E8C3}"/>
              </a:ext>
            </a:extLst>
          </p:cNvPr>
          <p:cNvSpPr>
            <a:spLocks xmlns:a="http://schemas.openxmlformats.org/drawingml/2006/main" noGrp="1"/>
          </p:cNvSpPr>
          <p:nvPr/>
        </p:nvSpPr>
        <p:spPr>
          <a:xfrm xmlns:a="http://schemas.openxmlformats.org/drawingml/2006/main">
            <a:off x="609600" y="1638300"/>
            <a:ext cx="46101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445A"/>
                </a:solidFill>
                <a:latin typeface="Bitstream Charter"/>
                <a:ea typeface="Bitstream Charter"/>
                <a:cs typeface="Bitstream Charter"/>
              </a:defRPr>
            </a:pPr>
            <a:r>
              <a:rPr sz="2325" b="1">
                <a:solidFill>
                  <a:srgbClr val="24445A"/>
                </a:solidFill>
                <a:latin typeface="Bitstream Charter"/>
                <a:ea typeface="Bitstream Charter"/>
                <a:cs typeface="Bitstream Charter"/>
              </a:rPr>
              <a:t>3.000.888 filas</a:t>
            </a:r>
          </a:p>
          <a:p xmlns:a="http://schemas.openxmlformats.org/drawingml/2006/main">
            <a:pPr>
              <a:defRPr sz="2325" b="1">
                <a:solidFill>
                  <a:srgbClr val="24445A"/>
                </a:solidFill>
                <a:latin typeface="Bitstream Charter"/>
                <a:ea typeface="Bitstream Charter"/>
                <a:cs typeface="Bitstream Charter"/>
              </a:defRPr>
            </a:pPr>
            <a:r>
              <a:rPr sz="2325" b="1">
                <a:solidFill>
                  <a:srgbClr val="24445A"/>
                </a:solidFill>
                <a:latin typeface="Bitstream Charter"/>
                <a:ea typeface="Bitstream Charter"/>
                <a:cs typeface="Bitstream Charter"/>
              </a:rPr>
              <a:t>54 tiendas × 33 familias</a:t>
            </a:r>
          </a:p>
          <a:p xmlns:a="http://schemas.openxmlformats.org/drawingml/2006/main">
            <a:pPr>
              <a:defRPr sz="2325" b="1">
                <a:solidFill>
                  <a:srgbClr val="24445A"/>
                </a:solidFill>
                <a:latin typeface="Bitstream Charter"/>
                <a:ea typeface="Bitstream Charter"/>
                <a:cs typeface="Bitstream Charter"/>
              </a:defRPr>
            </a:pPr>
            <a:r>
              <a:rPr sz="2325" b="1">
                <a:solidFill>
                  <a:srgbClr val="24445A"/>
                </a:solidFill>
                <a:latin typeface="Bitstream Charter"/>
                <a:ea typeface="Bitstream Charter"/>
                <a:cs typeface="Bitstream Charter"/>
              </a:rPr>
              <a:t>1.782 series diarias</a:t>
            </a:r>
          </a:p>
        </p:txBody>
      </p:sp>
      <p:sp>
        <p:nvSpPr>
          <p:cNvPr id="5" name="">
            <a:extLst xmlns:a="http://schemas.openxmlformats.org/drawingml/2006/main">
              <a:ext uri="{FF2B5EF4-FFF2-40B4-BE49-F238E27FC236}">
                <a16:creationId xmlns:a16="http://schemas.microsoft.com/office/drawing/2014/main" id="{8E6B4220-64CE-44D3-9E00-AC57F028252B}"/>
              </a:ext>
            </a:extLst>
          </p:cNvPr>
          <p:cNvSpPr>
            <a:spLocks xmlns:a="http://schemas.openxmlformats.org/drawingml/2006/main" noGrp="1"/>
          </p:cNvSpPr>
          <p:nvPr/>
        </p:nvSpPr>
        <p:spPr>
          <a:xfrm xmlns:a="http://schemas.openxmlformats.org/drawingml/2006/main">
            <a:off x="609600" y="3476625"/>
            <a:ext cx="4610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440"/>
                </a:solidFill>
                <a:latin typeface="Bitstream Charter"/>
                <a:ea typeface="Bitstream Charter"/>
                <a:cs typeface="Bitstream Charter"/>
              </a:defRPr>
            </a:pPr>
            <a:r>
              <a:rPr sz="1950" b="0">
                <a:solidFill>
                  <a:srgbClr val="253440"/>
                </a:solidFill>
                <a:latin typeface="Bitstream Charter"/>
                <a:ea typeface="Bitstream Charter"/>
                <a:cs typeface="Bitstream Charter"/>
              </a:rPr>
              <a:t>31,30% de ventas cero</a:t>
            </a:r>
          </a:p>
          <a:p xmlns:a="http://schemas.openxmlformats.org/drawingml/2006/main">
            <a:pPr>
              <a:defRPr sz="1950" b="0">
                <a:solidFill>
                  <a:srgbClr val="253440"/>
                </a:solidFill>
                <a:latin typeface="Bitstream Charter"/>
                <a:ea typeface="Bitstream Charter"/>
                <a:cs typeface="Bitstream Charter"/>
              </a:defRPr>
            </a:pPr>
            <a:r>
              <a:rPr sz="1950" b="0">
                <a:solidFill>
                  <a:srgbClr val="253440"/>
                </a:solidFill>
                <a:latin typeface="Bitstream Charter"/>
                <a:ea typeface="Bitstream Charter"/>
                <a:cs typeface="Bitstream Charter"/>
              </a:rPr>
              <a:t>4 fechas sin observaciones</a:t>
            </a:r>
          </a:p>
          <a:p xmlns:a="http://schemas.openxmlformats.org/drawingml/2006/main">
            <a:pPr>
              <a:defRPr sz="1950" b="0">
                <a:solidFill>
                  <a:srgbClr val="253440"/>
                </a:solidFill>
                <a:latin typeface="Bitstream Charter"/>
                <a:ea typeface="Bitstream Charter"/>
                <a:cs typeface="Bitstream Charter"/>
              </a:defRPr>
            </a:pPr>
            <a:r>
              <a:rPr sz="1950" b="0">
                <a:solidFill>
                  <a:srgbClr val="253440"/>
                </a:solidFill>
                <a:latin typeface="Bitstream Charter"/>
                <a:ea typeface="Bitstream Charter"/>
                <a:cs typeface="Bitstream Charter"/>
              </a:rPr>
              <a:t>Clave única: fecha, tienda y familia</a:t>
            </a:r>
          </a:p>
        </p:txBody>
      </p:sp>
      <p:sp>
        <p:nvSpPr>
          <p:cNvPr id="6" name="">
            <a:extLst xmlns:a="http://schemas.openxmlformats.org/drawingml/2006/main">
              <a:ext uri="{FF2B5EF4-FFF2-40B4-BE49-F238E27FC236}">
                <a16:creationId xmlns:a16="http://schemas.microsoft.com/office/drawing/2014/main" id="{97BE3191-31DA-4F67-B549-BC8B9F468D02}"/>
              </a:ext>
            </a:extLst>
          </p:cNvPr>
          <p:cNvSpPr>
            <a:spLocks xmlns:a="http://schemas.openxmlformats.org/drawingml/2006/main" noGrp="1"/>
          </p:cNvSpPr>
          <p:nvPr/>
        </p:nvSpPr>
        <p:spPr>
          <a:xfrm xmlns:a="http://schemas.openxmlformats.org/drawingml/2006/main">
            <a:off x="609600" y="5200650"/>
            <a:ext cx="4610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53440"/>
                </a:solidFill>
                <a:latin typeface="Bitstream Charter"/>
                <a:ea typeface="Bitstream Charter"/>
                <a:cs typeface="Bitstream Charter"/>
              </a:defRPr>
            </a:pPr>
            <a:r>
              <a:rPr sz="1800" b="0">
                <a:solidFill>
                  <a:srgbClr val="253440"/>
                </a:solidFill>
                <a:latin typeface="Bitstream Charter"/>
                <a:ea typeface="Bitstream Charter"/>
                <a:cs typeface="Bitstream Charter"/>
              </a:rPr>
              <a:t>Los días ausentes se conservan</a:t>
            </a:r>
          </a:p>
          <a:p xmlns:a="http://schemas.openxmlformats.org/drawingml/2006/main">
            <a:pPr>
              <a:defRPr sz="1800" b="0">
                <a:solidFill>
                  <a:srgbClr val="253440"/>
                </a:solidFill>
                <a:latin typeface="Bitstream Charter"/>
                <a:ea typeface="Bitstream Charter"/>
                <a:cs typeface="Bitstream Charter"/>
              </a:defRPr>
            </a:pPr>
            <a:r>
              <a:rPr sz="1800" b="0">
                <a:solidFill>
                  <a:srgbClr val="253440"/>
                </a:solidFill>
                <a:latin typeface="Bitstream Charter"/>
                <a:ea typeface="Bitstream Charter"/>
                <a:cs typeface="Bitstream Charter"/>
              </a:rPr>
              <a:t>como desconocidos.</a:t>
            </a:r>
          </a:p>
        </p:txBody>
      </p:sp>
      <p:graphicFrame>
        <p:nvGraphicFramePr>
          <p:cNvPr id="15" name="Chart"/>
          <p:cNvGraphicFramePr/>
          <p:nvPr/>
        </p:nvGraphicFramePr>
        <p:xfrm>
          <a:off xmlns:a="http://schemas.openxmlformats.org/drawingml/2006/main" x="5362575" y="1657350"/>
          <a:ext xmlns:a="http://schemas.openxmlformats.org/drawingml/2006/main" cx="6191250" cy="3962400"/>
        </p:xfrm>
        <a:graphic xmlns:a="http://schemas.openxmlformats.org/drawingml/2006/main">
          <a:graphicData uri="http://schemas.openxmlformats.org/drawingml/2006/chart">
            <c:chart xmlns:r="http://schemas.openxmlformats.org/officeDocument/2006/relationships" xmlns:c="http://schemas.openxmlformats.org/drawingml/2006/chart" r:id="R51cd3f55fb34458f"/>
          </a:graphicData>
        </a:graphic>
      </p:graphicFrame>
      <p:sp>
        <p:nvSpPr>
          <p:cNvPr id="8" name="">
            <a:extLst xmlns:a="http://schemas.openxmlformats.org/drawingml/2006/main">
              <a:ext uri="{FF2B5EF4-FFF2-40B4-BE49-F238E27FC236}">
                <a16:creationId xmlns:a16="http://schemas.microsoft.com/office/drawing/2014/main" id="{C290B11E-233C-4136-BDA1-49555417BDBB}"/>
              </a:ext>
            </a:extLst>
          </p:cNvPr>
          <p:cNvSpPr>
            <a:spLocks xmlns:a="http://schemas.openxmlformats.org/drawingml/2006/main" noGrp="1"/>
          </p:cNvSpPr>
          <p:nvPr/>
        </p:nvSpPr>
        <p:spPr>
          <a:xfrm xmlns:a="http://schemas.openxmlformats.org/drawingml/2006/main">
            <a:off x="5476875" y="577215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2"/>
                </a:solidFill>
                <a:latin typeface="Bitstream Charter"/>
                <a:ea typeface="Bitstream Charter"/>
                <a:cs typeface="Bitstream Charter"/>
              </a:defRPr>
            </a:pPr>
            <a:r>
              <a:rPr sz="1350" b="0">
                <a:solidFill>
                  <a:srgbClr val="647482"/>
                </a:solidFill>
                <a:latin typeface="Bitstream Charter"/>
                <a:ea typeface="Bitstream Charter"/>
                <a:cs typeface="Bitstream Charter"/>
              </a:rPr>
              <a:t>Media del campo sales: mezcla unidades y peso entre familias.</a:t>
            </a:r>
          </a:p>
        </p:txBody>
      </p:sp>
    </p:spTree>
    <p:extLst>
      <p:ext uri="{BB962C8B-B14F-4D97-AF65-F5344CB8AC3E}">
        <p14:creationId xmlns:p14="http://schemas.microsoft.com/office/powerpoint/2010/main" val="5668248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E4BF4A-DFDA-4C1A-9C42-D8E746CFB0C4}"/>
              </a:ext>
            </a:extLst>
          </p:cNvPr>
          <p:cNvSpPr>
            <a:spLocks xmlns:a="http://schemas.openxmlformats.org/drawingml/2006/main" noGrp="1"/>
          </p:cNvSpPr>
          <p:nvPr/>
        </p:nvSpPr>
        <p:spPr>
          <a:xfrm xmlns:a="http://schemas.openxmlformats.org/drawingml/2006/main">
            <a:off x="609600" y="4095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445A"/>
                </a:solidFill>
                <a:latin typeface="Bitstream Charter"/>
                <a:ea typeface="Bitstream Charter"/>
                <a:cs typeface="Bitstream Charter"/>
              </a:defRPr>
            </a:pPr>
            <a:r>
              <a:rPr sz="3300" b="1">
                <a:solidFill>
                  <a:srgbClr val="24445A"/>
                </a:solidFill>
                <a:latin typeface="Bitstream Charter"/>
                <a:ea typeface="Bitstream Charter"/>
                <a:cs typeface="Bitstream Charter"/>
              </a:rPr>
              <a:t>Baseline, Ridge y LightGBM</a:t>
            </a:r>
          </a:p>
        </p:txBody>
      </p:sp>
      <p:sp>
        <p:nvSpPr>
          <p:cNvPr id="2" name="">
            <a:extLst xmlns:a="http://schemas.openxmlformats.org/drawingml/2006/main">
              <a:ext uri="{FF2B5EF4-FFF2-40B4-BE49-F238E27FC236}">
                <a16:creationId xmlns:a16="http://schemas.microsoft.com/office/drawing/2014/main" id="{7D303ABB-6E1B-4BA6-81F3-66ED38B43EE2}"/>
              </a:ext>
            </a:extLst>
          </p:cNvPr>
          <p:cNvSpPr>
            <a:spLocks xmlns:a="http://schemas.openxmlformats.org/drawingml/2006/main" noGrp="1"/>
          </p:cNvSpPr>
          <p:nvPr/>
        </p:nvSpPr>
        <p:spPr>
          <a:xfrm xmlns:a="http://schemas.openxmlformats.org/drawingml/2006/main">
            <a:off x="609600" y="6381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TFM · Adel Toutouh El Bouchti</a:t>
            </a:r>
          </a:p>
        </p:txBody>
      </p:sp>
      <p:sp>
        <p:nvSpPr>
          <p:cNvPr id="3" name="">
            <a:extLst xmlns:a="http://schemas.openxmlformats.org/drawingml/2006/main">
              <a:ext uri="{FF2B5EF4-FFF2-40B4-BE49-F238E27FC236}">
                <a16:creationId xmlns:a16="http://schemas.microsoft.com/office/drawing/2014/main" id="{F184891D-B0CC-4A5B-B382-E9CF448696C6}"/>
              </a:ext>
            </a:extLst>
          </p:cNvPr>
          <p:cNvSpPr>
            <a:spLocks xmlns:a="http://schemas.openxmlformats.org/drawingml/2006/main" noGrp="1"/>
          </p:cNvSpPr>
          <p:nvPr/>
        </p:nvSpPr>
        <p:spPr>
          <a:xfrm xmlns:a="http://schemas.openxmlformats.org/drawingml/2006/main">
            <a:off x="1118235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3</a:t>
            </a:r>
          </a:p>
        </p:txBody>
      </p:sp>
      <p:graphicFrame>
        <p:nvGraphicFramePr>
          <p:cNvPr id="10"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2286000"/>
                <a:gridCol w="4381500"/>
                <a:gridCol w="4305300"/>
              </a:tblGrid>
              <a:tr h="833438">
                <a:tc>
                  <a:txBody>
                    <a:bodyPr/>
                    <a:lstStyle/>
                    <a:p>
                      <a:r>
                        <a:rPr sz="1875" b="1">
                          <a:solidFill>
                            <a:srgbClr val="24445A"/>
                          </a:solidFill>
                          <a:latin typeface="Bitstream Charter"/>
                          <a:ea typeface="Bitstream Charter"/>
                          <a:cs typeface="Bitstream Charter"/>
                        </a:rPr>
                        <a:t>Modelo</a:t>
                      </a:r>
                    </a:p>
                  </a:txBody>
                  <a:tcPr marL="114300" marR="114300" marT="114300" marB="114300">
                    <a:solidFill>
                      <a:srgbClr val="E9F0F4"/>
                    </a:solidFill>
                  </a:tcPr>
                </a:tc>
                <a:tc>
                  <a:txBody>
                    <a:bodyPr/>
                    <a:lstStyle/>
                    <a:p>
                      <a:r>
                        <a:rPr sz="1875" b="1">
                          <a:solidFill>
                            <a:srgbClr val="24445A"/>
                          </a:solidFill>
                          <a:latin typeface="Bitstream Charter"/>
                          <a:ea typeface="Bitstream Charter"/>
                          <a:cs typeface="Bitstream Charter"/>
                        </a:rPr>
                        <a:t>Cómo predice</a:t>
                      </a:r>
                    </a:p>
                  </a:txBody>
                  <a:tcPr marL="114300" marR="114300" marT="114300" marB="114300">
                    <a:solidFill>
                      <a:srgbClr val="E9F0F4"/>
                    </a:solidFill>
                  </a:tcPr>
                </a:tc>
                <a:tc>
                  <a:txBody>
                    <a:bodyPr/>
                    <a:lstStyle/>
                    <a:p>
                      <a:r>
                        <a:rPr sz="1875" b="1">
                          <a:solidFill>
                            <a:srgbClr val="24445A"/>
                          </a:solidFill>
                          <a:latin typeface="Bitstream Charter"/>
                          <a:ea typeface="Bitstream Charter"/>
                          <a:cs typeface="Bitstream Charter"/>
                        </a:rPr>
                        <a:t>Configuración</a:t>
                      </a:r>
                    </a:p>
                  </a:txBody>
                  <a:tcPr marL="114300" marR="114300" marT="114300" marB="114300">
                    <a:solidFill>
                      <a:srgbClr val="E9F0F4"/>
                    </a:solidFill>
                  </a:tcPr>
                </a:tc>
              </a:tr>
              <a:tr h="833438">
                <a:tc>
                  <a:txBody>
                    <a:bodyPr/>
                    <a:lstStyle/>
                    <a:p>
                      <a:r>
                        <a:rPr sz="1875">
                          <a:solidFill>
                            <a:srgbClr val="253440"/>
                          </a:solidFill>
                          <a:latin typeface="Bitstream Charter"/>
                          <a:ea typeface="Bitstream Charter"/>
                          <a:cs typeface="Bitstream Charter"/>
                        </a:rPr>
                        <a:t>Baseline semanal</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Repite la venta de hace 7 días</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Recursivo; media de 28 días</a:t>
                      </a:r>
                    </a:p>
                    <a:p>
                      <a:r>
                        <a:rPr sz="1875">
                          <a:solidFill>
                            <a:srgbClr val="253440"/>
                          </a:solidFill>
                          <a:latin typeface="Bitstream Charter"/>
                          <a:ea typeface="Bitstream Charter"/>
                          <a:cs typeface="Bitstream Charter"/>
                        </a:rPr>
                        <a:t>si falta el retardo</a:t>
                      </a:r>
                    </a:p>
                  </a:txBody>
                  <a:tcPr marL="114300" marR="114300" marT="114300" marB="114300">
                    <a:solidFill>
                      <a:srgbClr val="FFFFFF"/>
                    </a:solidFill>
                  </a:tcPr>
                </a:tc>
              </a:tr>
              <a:tr h="833438">
                <a:tc>
                  <a:txBody>
                    <a:bodyPr/>
                    <a:lstStyle/>
                    <a:p>
                      <a:r>
                        <a:rPr sz="1875">
                          <a:solidFill>
                            <a:srgbClr val="253440"/>
                          </a:solidFill>
                          <a:latin typeface="Bitstream Charter"/>
                          <a:ea typeface="Bitstream Charter"/>
                          <a:cs typeface="Bitstream Charter"/>
                        </a:rPr>
                        <a:t>Ridge</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Relación lineal regularizada</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α = 30; escalado y</a:t>
                      </a:r>
                    </a:p>
                    <a:p>
                      <a:r>
                        <a:rPr sz="1875">
                          <a:solidFill>
                            <a:srgbClr val="253440"/>
                          </a:solidFill>
                          <a:latin typeface="Bitstream Charter"/>
                          <a:ea typeface="Bitstream Charter"/>
                          <a:cs typeface="Bitstream Charter"/>
                        </a:rPr>
                        <a:t>categorías one-hot</a:t>
                      </a:r>
                    </a:p>
                  </a:txBody>
                  <a:tcPr marL="114300" marR="114300" marT="114300" marB="114300">
                    <a:solidFill>
                      <a:srgbClr val="FFFFFF"/>
                    </a:solidFill>
                  </a:tcPr>
                </a:tc>
              </a:tr>
              <a:tr h="833438">
                <a:tc>
                  <a:txBody>
                    <a:bodyPr/>
                    <a:lstStyle/>
                    <a:p>
                      <a:r>
                        <a:rPr sz="1875">
                          <a:solidFill>
                            <a:srgbClr val="253440"/>
                          </a:solidFill>
                          <a:latin typeface="Bitstream Charter"/>
                          <a:ea typeface="Bitstream Charter"/>
                          <a:cs typeface="Bitstream Charter"/>
                        </a:rPr>
                        <a:t>LightGBM</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Árboles de decisión combinados</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31 / 63 hojas; 300 / 400 árboles</a:t>
                      </a:r>
                    </a:p>
                    <a:p>
                      <a:r>
                        <a:rPr sz="1875">
                          <a:solidFill>
                            <a:srgbClr val="253440"/>
                          </a:solidFill>
                          <a:latin typeface="Bitstream Charter"/>
                          <a:ea typeface="Bitstream Charter"/>
                          <a:cs typeface="Bitstream Charter"/>
                        </a:rPr>
                        <a:t>Aprendizaje = 0,05</a:t>
                      </a:r>
                    </a:p>
                  </a:txBody>
                  <a:tcPr marL="114300" marR="11430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4D01943-BF31-452B-B7F6-FC4469751AEB}"/>
              </a:ext>
            </a:extLst>
          </p:cNvPr>
          <p:cNvSpPr>
            <a:spLocks xmlns:a="http://schemas.openxmlformats.org/drawingml/2006/main" noGrp="1"/>
          </p:cNvSpPr>
          <p:nvPr/>
        </p:nvSpPr>
        <p:spPr>
          <a:xfrm xmlns:a="http://schemas.openxmlformats.org/drawingml/2006/main">
            <a:off x="609600" y="5362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440"/>
                </a:solidFill>
                <a:latin typeface="Bitstream Charter"/>
                <a:ea typeface="Bitstream Charter"/>
                <a:cs typeface="Bitstream Charter"/>
              </a:defRPr>
            </a:pPr>
            <a:r>
              <a:rPr sz="1950" b="0">
                <a:solidFill>
                  <a:srgbClr val="253440"/>
                </a:solidFill>
                <a:latin typeface="Bitstream Charter"/>
                <a:ea typeface="Bitstream Charter"/>
                <a:cs typeface="Bitstream Charter"/>
              </a:rPr>
              <a:t>27 variables: calendario, promociones, tienda, lags y medias anteriores.</a:t>
            </a:r>
          </a:p>
        </p:txBody>
      </p:sp>
      <p:sp>
        <p:nvSpPr>
          <p:cNvPr id="6" name="">
            <a:extLst xmlns:a="http://schemas.openxmlformats.org/drawingml/2006/main">
              <a:ext uri="{FF2B5EF4-FFF2-40B4-BE49-F238E27FC236}">
                <a16:creationId xmlns:a16="http://schemas.microsoft.com/office/drawing/2014/main" id="{C2AE1A7E-7812-4DA7-90B7-B0F670AC3947}"/>
              </a:ext>
            </a:extLst>
          </p:cNvPr>
          <p:cNvSpPr>
            <a:spLocks xmlns:a="http://schemas.openxmlformats.org/drawingml/2006/main" noGrp="1"/>
          </p:cNvSpPr>
          <p:nvPr/>
        </p:nvSpPr>
        <p:spPr>
          <a:xfrm xmlns:a="http://schemas.openxmlformats.org/drawingml/2006/main">
            <a:off x="609600" y="5800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482"/>
                </a:solidFill>
                <a:latin typeface="Bitstream Charter"/>
                <a:ea typeface="Bitstream Charter"/>
                <a:cs typeface="Bitstream Charter"/>
              </a:defRPr>
            </a:pPr>
            <a:r>
              <a:rPr sz="1800" b="0">
                <a:solidFill>
                  <a:srgbClr val="647482"/>
                </a:solidFill>
                <a:latin typeface="Bitstream Charter"/>
                <a:ea typeface="Bitstream Charter"/>
                <a:cs typeface="Bitstream Charter"/>
              </a:rPr>
              <a:t>Ventana común de 730 días. Sin transacciones ni petróleo futuros.</a:t>
            </a:r>
          </a:p>
        </p:txBody>
      </p:sp>
    </p:spTree>
    <p:extLst>
      <p:ext uri="{BB962C8B-B14F-4D97-AF65-F5344CB8AC3E}">
        <p14:creationId xmlns:p14="http://schemas.microsoft.com/office/powerpoint/2010/main" val="15163646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F7442B-8E70-45B9-833F-7E8BC80F69B6}"/>
              </a:ext>
            </a:extLst>
          </p:cNvPr>
          <p:cNvSpPr>
            <a:spLocks xmlns:a="http://schemas.openxmlformats.org/drawingml/2006/main" noGrp="1"/>
          </p:cNvSpPr>
          <p:nvPr/>
        </p:nvSpPr>
        <p:spPr>
          <a:xfrm xmlns:a="http://schemas.openxmlformats.org/drawingml/2006/main">
            <a:off x="609600" y="4095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445A"/>
                </a:solidFill>
                <a:latin typeface="Bitstream Charter"/>
                <a:ea typeface="Bitstream Charter"/>
                <a:cs typeface="Bitstream Charter"/>
              </a:defRPr>
            </a:pPr>
            <a:r>
              <a:rPr sz="3300" b="1">
                <a:solidFill>
                  <a:srgbClr val="24445A"/>
                </a:solidFill>
                <a:latin typeface="Bitstream Charter"/>
                <a:ea typeface="Bitstream Charter"/>
                <a:cs typeface="Bitstream Charter"/>
              </a:rPr>
              <a:t>Validación temporal de 16 días</a:t>
            </a:r>
          </a:p>
        </p:txBody>
      </p:sp>
      <p:sp>
        <p:nvSpPr>
          <p:cNvPr id="2" name="">
            <a:extLst xmlns:a="http://schemas.openxmlformats.org/drawingml/2006/main">
              <a:ext uri="{FF2B5EF4-FFF2-40B4-BE49-F238E27FC236}">
                <a16:creationId xmlns:a16="http://schemas.microsoft.com/office/drawing/2014/main" id="{1E46FC99-B016-4414-9DBB-BD289751817F}"/>
              </a:ext>
            </a:extLst>
          </p:cNvPr>
          <p:cNvSpPr>
            <a:spLocks xmlns:a="http://schemas.openxmlformats.org/drawingml/2006/main" noGrp="1"/>
          </p:cNvSpPr>
          <p:nvPr/>
        </p:nvSpPr>
        <p:spPr>
          <a:xfrm xmlns:a="http://schemas.openxmlformats.org/drawingml/2006/main">
            <a:off x="609600" y="6381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TFM · Adel Toutouh El Bouchti</a:t>
            </a:r>
          </a:p>
        </p:txBody>
      </p:sp>
      <p:sp>
        <p:nvSpPr>
          <p:cNvPr id="3" name="">
            <a:extLst xmlns:a="http://schemas.openxmlformats.org/drawingml/2006/main">
              <a:ext uri="{FF2B5EF4-FFF2-40B4-BE49-F238E27FC236}">
                <a16:creationId xmlns:a16="http://schemas.microsoft.com/office/drawing/2014/main" id="{815D7550-E5C6-400C-BF35-1A3ADC013785}"/>
              </a:ext>
            </a:extLst>
          </p:cNvPr>
          <p:cNvSpPr>
            <a:spLocks xmlns:a="http://schemas.openxmlformats.org/drawingml/2006/main" noGrp="1"/>
          </p:cNvSpPr>
          <p:nvPr/>
        </p:nvSpPr>
        <p:spPr>
          <a:xfrm xmlns:a="http://schemas.openxmlformats.org/drawingml/2006/main">
            <a:off x="1118235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4</a:t>
            </a:r>
          </a:p>
        </p:txBody>
      </p:sp>
      <p:graphicFrame>
        <p:nvGraphicFramePr>
          <p:cNvPr id="10" name=""/>
          <p:cNvGraphicFramePr/>
          <p:nvPr/>
        </p:nvGraphicFramePr>
        <p:xfrm>
          <a:off xmlns:a="http://schemas.openxmlformats.org/drawingml/2006/main" x="609600" y="1628775"/>
          <a:ext xmlns:a="http://schemas.openxmlformats.org/drawingml/2006/main" cx="10972800" cy="3276600"/>
        </p:xfrm>
        <a:graphic xmlns:a="http://schemas.openxmlformats.org/drawingml/2006/main">
          <a:graphicData uri="http://schemas.openxmlformats.org/drawingml/2006/table">
            <a:tbl>
              <a:tblPr/>
              <a:tblGrid>
                <a:gridCol w="3524250"/>
                <a:gridCol w="4124325"/>
                <a:gridCol w="3324225"/>
              </a:tblGrid>
              <a:tr h="655320">
                <a:tc>
                  <a:txBody>
                    <a:bodyPr/>
                    <a:lstStyle/>
                    <a:p>
                      <a:r>
                        <a:rPr sz="2025" b="1">
                          <a:solidFill>
                            <a:srgbClr val="24445A"/>
                          </a:solidFill>
                          <a:latin typeface="Bitstream Charter"/>
                          <a:ea typeface="Bitstream Charter"/>
                          <a:cs typeface="Bitstream Charter"/>
                        </a:rPr>
                        <a:t>Corte de entrenamiento</a:t>
                      </a:r>
                    </a:p>
                  </a:txBody>
                  <a:tcPr marL="114300" marR="114300" marT="114300" marB="114300">
                    <a:solidFill>
                      <a:srgbClr val="E9F0F4"/>
                    </a:solidFill>
                  </a:tcPr>
                </a:tc>
                <a:tc>
                  <a:txBody>
                    <a:bodyPr/>
                    <a:lstStyle/>
                    <a:p>
                      <a:r>
                        <a:rPr sz="2025" b="1">
                          <a:solidFill>
                            <a:srgbClr val="24445A"/>
                          </a:solidFill>
                          <a:latin typeface="Bitstream Charter"/>
                          <a:ea typeface="Bitstream Charter"/>
                          <a:cs typeface="Bitstream Charter"/>
                        </a:rPr>
                        <a:t>Bloque que se predice</a:t>
                      </a:r>
                    </a:p>
                  </a:txBody>
                  <a:tcPr marL="114300" marR="114300" marT="114300" marB="114300">
                    <a:solidFill>
                      <a:srgbClr val="E9F0F4"/>
                    </a:solidFill>
                  </a:tcPr>
                </a:tc>
                <a:tc>
                  <a:txBody>
                    <a:bodyPr/>
                    <a:lstStyle/>
                    <a:p>
                      <a:r>
                        <a:rPr sz="2025" b="1">
                          <a:solidFill>
                            <a:srgbClr val="24445A"/>
                          </a:solidFill>
                          <a:latin typeface="Bitstream Charter"/>
                          <a:ea typeface="Bitstream Charter"/>
                          <a:cs typeface="Bitstream Charter"/>
                        </a:rPr>
                        <a:t>Uso</a:t>
                      </a:r>
                    </a:p>
                  </a:txBody>
                  <a:tcPr marL="114300" marR="114300" marT="114300" marB="114300">
                    <a:solidFill>
                      <a:srgbClr val="E9F0F4"/>
                    </a:solidFill>
                  </a:tcPr>
                </a:tc>
              </a:tr>
              <a:tr h="655320">
                <a:tc>
                  <a:txBody>
                    <a:bodyPr/>
                    <a:lstStyle/>
                    <a:p>
                      <a:r>
                        <a:rPr sz="2025">
                          <a:solidFill>
                            <a:srgbClr val="253440"/>
                          </a:solidFill>
                          <a:latin typeface="Bitstream Charter"/>
                          <a:ea typeface="Bitstream Charter"/>
                          <a:cs typeface="Bitstream Charter"/>
                        </a:rPr>
                        <a:t>12/06/2017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13/06 – 28/06</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Validación</a:t>
                      </a:r>
                    </a:p>
                  </a:txBody>
                  <a:tcPr marL="114300" marR="114300" marT="114300" marB="114300">
                    <a:solidFill>
                      <a:srgbClr val="FFFFFF"/>
                    </a:solidFill>
                  </a:tcPr>
                </a:tc>
              </a:tr>
              <a:tr h="655320">
                <a:tc>
                  <a:txBody>
                    <a:bodyPr/>
                    <a:lstStyle/>
                    <a:p>
                      <a:r>
                        <a:rPr sz="2025">
                          <a:solidFill>
                            <a:srgbClr val="253440"/>
                          </a:solidFill>
                          <a:latin typeface="Bitstream Charter"/>
                          <a:ea typeface="Bitstream Charter"/>
                          <a:cs typeface="Bitstream Charter"/>
                        </a:rPr>
                        <a:t>28/06/2017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29/06 – 14/07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Validación</a:t>
                      </a:r>
                    </a:p>
                  </a:txBody>
                  <a:tcPr marL="114300" marR="114300" marT="114300" marB="114300">
                    <a:solidFill>
                      <a:srgbClr val="FFFFFF"/>
                    </a:solidFill>
                  </a:tcPr>
                </a:tc>
              </a:tr>
              <a:tr h="655320">
                <a:tc>
                  <a:txBody>
                    <a:bodyPr/>
                    <a:lstStyle/>
                    <a:p>
                      <a:r>
                        <a:rPr sz="2025">
                          <a:solidFill>
                            <a:srgbClr val="253440"/>
                          </a:solidFill>
                          <a:latin typeface="Bitstream Charter"/>
                          <a:ea typeface="Bitstream Charter"/>
                          <a:cs typeface="Bitstream Charter"/>
                        </a:rPr>
                        <a:t>14/07/2017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15/07 – 30/07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Validación</a:t>
                      </a:r>
                    </a:p>
                  </a:txBody>
                  <a:tcPr marL="114300" marR="114300" marT="114300" marB="114300">
                    <a:solidFill>
                      <a:srgbClr val="FFFFFF"/>
                    </a:solidFill>
                  </a:tcPr>
                </a:tc>
              </a:tr>
              <a:tr h="655320">
                <a:tc>
                  <a:txBody>
                    <a:bodyPr/>
                    <a:lstStyle/>
                    <a:p>
                      <a:r>
                        <a:rPr sz="2025">
                          <a:solidFill>
                            <a:srgbClr val="253440"/>
                          </a:solidFill>
                          <a:latin typeface="Bitstream Charter"/>
                          <a:ea typeface="Bitstream Charter"/>
                          <a:cs typeface="Bitstream Charter"/>
                        </a:rPr>
                        <a:t>30/07/2017</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31/07 – 15/08</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Test interno</a:t>
                      </a:r>
                    </a:p>
                  </a:txBody>
                  <a:tcPr marL="114300" marR="11430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6CA6D70-C358-4BD8-95AE-2A459FC53D8E}"/>
              </a:ext>
            </a:extLst>
          </p:cNvPr>
          <p:cNvSpPr>
            <a:spLocks xmlns:a="http://schemas.openxmlformats.org/drawingml/2006/main" noGrp="1"/>
          </p:cNvSpPr>
          <p:nvPr/>
        </p:nvSpPr>
        <p:spPr>
          <a:xfrm xmlns:a="http://schemas.openxmlformats.org/drawingml/2006/main">
            <a:off x="609600" y="5219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45A"/>
                </a:solidFill>
                <a:latin typeface="Bitstream Charter"/>
                <a:ea typeface="Bitstream Charter"/>
                <a:cs typeface="Bitstream Charter"/>
              </a:defRPr>
            </a:pPr>
            <a:r>
              <a:rPr sz="1950" b="1">
                <a:solidFill>
                  <a:srgbClr val="24445A"/>
                </a:solidFill>
                <a:latin typeface="Bitstream Charter"/>
                <a:ea typeface="Bitstream Charter"/>
                <a:cs typeface="Bitstream Charter"/>
              </a:rPr>
              <a:t>Dentro del horizonte, cada modelo reutiliza sus propias predicciones.</a:t>
            </a:r>
          </a:p>
        </p:txBody>
      </p:sp>
      <p:sp>
        <p:nvSpPr>
          <p:cNvPr id="6" name="">
            <a:extLst xmlns:a="http://schemas.openxmlformats.org/drawingml/2006/main">
              <a:ext uri="{FF2B5EF4-FFF2-40B4-BE49-F238E27FC236}">
                <a16:creationId xmlns:a16="http://schemas.microsoft.com/office/drawing/2014/main" id="{6E3A6CFB-2110-4010-B6B7-CE85CB5A0DC0}"/>
              </a:ext>
            </a:extLst>
          </p:cNvPr>
          <p:cNvSpPr>
            <a:spLocks xmlns:a="http://schemas.openxmlformats.org/drawingml/2006/main" noGrp="1"/>
          </p:cNvSpPr>
          <p:nvPr/>
        </p:nvSpPr>
        <p:spPr>
          <a:xfrm xmlns:a="http://schemas.openxmlformats.org/drawingml/2006/main">
            <a:off x="609600" y="57816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440"/>
                </a:solidFill>
                <a:latin typeface="Bitstream Charter"/>
                <a:ea typeface="Bitstream Charter"/>
                <a:cs typeface="Bitstream Charter"/>
              </a:defRPr>
            </a:pPr>
            <a:r>
              <a:rPr sz="1875" b="0">
                <a:solidFill>
                  <a:srgbClr val="253440"/>
                </a:solidFill>
                <a:latin typeface="Bitstream Charter"/>
                <a:ea typeface="Bitstream Charter"/>
                <a:cs typeface="Bitstream Charter"/>
              </a:rPr>
              <a:t>La elección se fija con las tres validaciones, antes del test interno.</a:t>
            </a:r>
          </a:p>
        </p:txBody>
      </p:sp>
    </p:spTree>
    <p:extLst>
      <p:ext uri="{BB962C8B-B14F-4D97-AF65-F5344CB8AC3E}">
        <p14:creationId xmlns:p14="http://schemas.microsoft.com/office/powerpoint/2010/main" val="434137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99B6D5-5AF5-4885-8B58-FFD626A7F581}"/>
              </a:ext>
            </a:extLst>
          </p:cNvPr>
          <p:cNvSpPr>
            <a:spLocks xmlns:a="http://schemas.openxmlformats.org/drawingml/2006/main" noGrp="1"/>
          </p:cNvSpPr>
          <p:nvPr/>
        </p:nvSpPr>
        <p:spPr>
          <a:xfrm xmlns:a="http://schemas.openxmlformats.org/drawingml/2006/main">
            <a:off x="609600" y="4095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445A"/>
                </a:solidFill>
                <a:latin typeface="Bitstream Charter"/>
                <a:ea typeface="Bitstream Charter"/>
                <a:cs typeface="Bitstream Charter"/>
              </a:defRPr>
            </a:pPr>
            <a:r>
              <a:rPr sz="3300" b="1">
                <a:solidFill>
                  <a:srgbClr val="24445A"/>
                </a:solidFill>
                <a:latin typeface="Bitstream Charter"/>
                <a:ea typeface="Bitstream Charter"/>
                <a:cs typeface="Bitstream Charter"/>
              </a:rPr>
              <a:t>Resultado en el test interno</a:t>
            </a:r>
          </a:p>
        </p:txBody>
      </p:sp>
      <p:sp>
        <p:nvSpPr>
          <p:cNvPr id="2" name="">
            <a:extLst xmlns:a="http://schemas.openxmlformats.org/drawingml/2006/main">
              <a:ext uri="{FF2B5EF4-FFF2-40B4-BE49-F238E27FC236}">
                <a16:creationId xmlns:a16="http://schemas.microsoft.com/office/drawing/2014/main" id="{66CE2E2D-9E53-4A14-BF86-F958D289B37F}"/>
              </a:ext>
            </a:extLst>
          </p:cNvPr>
          <p:cNvSpPr>
            <a:spLocks xmlns:a="http://schemas.openxmlformats.org/drawingml/2006/main" noGrp="1"/>
          </p:cNvSpPr>
          <p:nvPr/>
        </p:nvSpPr>
        <p:spPr>
          <a:xfrm xmlns:a="http://schemas.openxmlformats.org/drawingml/2006/main">
            <a:off x="609600" y="6381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TFM · Adel Toutouh El Bouchti</a:t>
            </a:r>
          </a:p>
        </p:txBody>
      </p:sp>
      <p:sp>
        <p:nvSpPr>
          <p:cNvPr id="3" name="">
            <a:extLst xmlns:a="http://schemas.openxmlformats.org/drawingml/2006/main">
              <a:ext uri="{FF2B5EF4-FFF2-40B4-BE49-F238E27FC236}">
                <a16:creationId xmlns:a16="http://schemas.microsoft.com/office/drawing/2014/main" id="{66CC0C3A-EC52-4684-8142-9D7A18C380EF}"/>
              </a:ext>
            </a:extLst>
          </p:cNvPr>
          <p:cNvSpPr>
            <a:spLocks xmlns:a="http://schemas.openxmlformats.org/drawingml/2006/main" noGrp="1"/>
          </p:cNvSpPr>
          <p:nvPr/>
        </p:nvSpPr>
        <p:spPr>
          <a:xfrm xmlns:a="http://schemas.openxmlformats.org/drawingml/2006/main">
            <a:off x="1118235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5</a:t>
            </a:r>
          </a:p>
        </p:txBody>
      </p:sp>
      <p:graphicFrame>
        <p:nvGraphicFramePr>
          <p:cNvPr id="11" name="Chart"/>
          <p:cNvGraphicFramePr/>
          <p:nvPr/>
        </p:nvGraphicFramePr>
        <p:xfrm>
          <a:off xmlns:a="http://schemas.openxmlformats.org/drawingml/2006/main" x="609600" y="1581150"/>
          <a:ext xmlns:a="http://schemas.openxmlformats.org/drawingml/2006/main" cx="6191250" cy="4048125"/>
        </p:xfrm>
        <a:graphic xmlns:a="http://schemas.openxmlformats.org/drawingml/2006/main">
          <a:graphicData uri="http://schemas.openxmlformats.org/drawingml/2006/chart">
            <c:chart xmlns:r="http://schemas.openxmlformats.org/officeDocument/2006/relationships" xmlns:c="http://schemas.openxmlformats.org/drawingml/2006/chart" r:id="R811ecb31d2a74153"/>
          </a:graphicData>
        </a:graphic>
      </p:graphicFrame>
      <p:sp>
        <p:nvSpPr>
          <p:cNvPr id="5" name="">
            <a:extLst xmlns:a="http://schemas.openxmlformats.org/drawingml/2006/main">
              <a:ext uri="{FF2B5EF4-FFF2-40B4-BE49-F238E27FC236}">
                <a16:creationId xmlns:a16="http://schemas.microsoft.com/office/drawing/2014/main" id="{8B7203C1-05DE-4202-B382-BC4E2437E4CC}"/>
              </a:ext>
            </a:extLst>
          </p:cNvPr>
          <p:cNvSpPr>
            <a:spLocks xmlns:a="http://schemas.openxmlformats.org/drawingml/2006/main" noGrp="1"/>
          </p:cNvSpPr>
          <p:nvPr/>
        </p:nvSpPr>
        <p:spPr>
          <a:xfrm xmlns:a="http://schemas.openxmlformats.org/drawingml/2006/main">
            <a:off x="7219950" y="1581150"/>
            <a:ext cx="4343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445A"/>
                </a:solidFill>
                <a:latin typeface="Bitstream Charter"/>
                <a:ea typeface="Bitstream Charter"/>
                <a:cs typeface="Bitstream Charter"/>
              </a:defRPr>
            </a:pPr>
            <a:r>
              <a:rPr sz="2550" b="1">
                <a:solidFill>
                  <a:srgbClr val="24445A"/>
                </a:solidFill>
                <a:latin typeface="Bitstream Charter"/>
                <a:ea typeface="Bitstream Charter"/>
                <a:cs typeface="Bitstream Charter"/>
              </a:rPr>
              <a:t>21,43% menos MAE</a:t>
            </a:r>
          </a:p>
        </p:txBody>
      </p:sp>
      <p:graphicFrame>
        <p:nvGraphicFramePr>
          <p:cNvPr id="13" name=""/>
          <p:cNvGraphicFramePr/>
          <p:nvPr/>
        </p:nvGraphicFramePr>
        <p:xfrm>
          <a:off xmlns:a="http://schemas.openxmlformats.org/drawingml/2006/main" x="7219950" y="2409825"/>
          <a:ext xmlns:a="http://schemas.openxmlformats.org/drawingml/2006/main" cx="4343400" cy="2667000"/>
        </p:xfrm>
        <a:graphic xmlns:a="http://schemas.openxmlformats.org/drawingml/2006/main">
          <a:graphicData uri="http://schemas.openxmlformats.org/drawingml/2006/table">
            <a:tbl>
              <a:tblPr/>
              <a:tblGrid>
                <a:gridCol w="1752600"/>
                <a:gridCol w="1333500"/>
                <a:gridCol w="1257300"/>
              </a:tblGrid>
              <a:tr h="666750">
                <a:tc>
                  <a:txBody>
                    <a:bodyPr/>
                    <a:lstStyle/>
                    <a:p>
                      <a:r>
                        <a:rPr sz="1875" b="1">
                          <a:solidFill>
                            <a:srgbClr val="24445A"/>
                          </a:solidFill>
                          <a:latin typeface="Bitstream Charter"/>
                          <a:ea typeface="Bitstream Charter"/>
                          <a:cs typeface="Bitstream Charter"/>
                        </a:rPr>
                        <a:t>Modelo</a:t>
                      </a:r>
                    </a:p>
                  </a:txBody>
                  <a:tcPr marL="114300" marR="114300" marT="114300" marB="114300">
                    <a:solidFill>
                      <a:srgbClr val="E9F0F4"/>
                    </a:solidFill>
                  </a:tcPr>
                </a:tc>
                <a:tc>
                  <a:txBody>
                    <a:bodyPr/>
                    <a:lstStyle/>
                    <a:p>
                      <a:r>
                        <a:rPr sz="1875" b="1">
                          <a:solidFill>
                            <a:srgbClr val="24445A"/>
                          </a:solidFill>
                          <a:latin typeface="Bitstream Charter"/>
                          <a:ea typeface="Bitstream Charter"/>
                          <a:cs typeface="Bitstream Charter"/>
                        </a:rPr>
                        <a:t>WAPE</a:t>
                      </a:r>
                    </a:p>
                  </a:txBody>
                  <a:tcPr marL="114300" marR="114300" marT="114300" marB="114300">
                    <a:solidFill>
                      <a:srgbClr val="E9F0F4"/>
                    </a:solidFill>
                  </a:tcPr>
                </a:tc>
                <a:tc>
                  <a:txBody>
                    <a:bodyPr/>
                    <a:lstStyle/>
                    <a:p>
                      <a:r>
                        <a:rPr sz="1875" b="1">
                          <a:solidFill>
                            <a:srgbClr val="24445A"/>
                          </a:solidFill>
                          <a:latin typeface="Bitstream Charter"/>
                          <a:ea typeface="Bitstream Charter"/>
                          <a:cs typeface="Bitstream Charter"/>
                        </a:rPr>
                        <a:t>RMSLE</a:t>
                      </a:r>
                    </a:p>
                  </a:txBody>
                  <a:tcPr marL="114300" marR="114300" marT="114300" marB="114300">
                    <a:solidFill>
                      <a:srgbClr val="E9F0F4"/>
                    </a:solidFill>
                  </a:tcPr>
                </a:tc>
              </a:tr>
              <a:tr h="666750">
                <a:tc>
                  <a:txBody>
                    <a:bodyPr/>
                    <a:lstStyle/>
                    <a:p>
                      <a:r>
                        <a:rPr sz="1875">
                          <a:solidFill>
                            <a:srgbClr val="253440"/>
                          </a:solidFill>
                          <a:latin typeface="Bitstream Charter"/>
                          <a:ea typeface="Bitstream Charter"/>
                          <a:cs typeface="Bitstream Charter"/>
                        </a:rPr>
                        <a:t>Baseline</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20,67%</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0,617</a:t>
                      </a:r>
                    </a:p>
                  </a:txBody>
                  <a:tcPr marL="114300" marR="114300" marT="114300" marB="114300">
                    <a:solidFill>
                      <a:srgbClr val="FFFFFF"/>
                    </a:solidFill>
                  </a:tcPr>
                </a:tc>
              </a:tr>
              <a:tr h="666750">
                <a:tc>
                  <a:txBody>
                    <a:bodyPr/>
                    <a:lstStyle/>
                    <a:p>
                      <a:r>
                        <a:rPr sz="1875">
                          <a:solidFill>
                            <a:srgbClr val="253440"/>
                          </a:solidFill>
                          <a:latin typeface="Bitstream Charter"/>
                          <a:ea typeface="Bitstream Charter"/>
                          <a:cs typeface="Bitstream Charter"/>
                        </a:rPr>
                        <a:t>Ridge</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20,24%</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1,511</a:t>
                      </a:r>
                    </a:p>
                  </a:txBody>
                  <a:tcPr marL="114300" marR="114300" marT="114300" marB="114300">
                    <a:solidFill>
                      <a:srgbClr val="FFFFFF"/>
                    </a:solidFill>
                  </a:tcPr>
                </a:tc>
              </a:tr>
              <a:tr h="666750">
                <a:tc>
                  <a:txBody>
                    <a:bodyPr/>
                    <a:lstStyle/>
                    <a:p>
                      <a:r>
                        <a:rPr sz="1875">
                          <a:solidFill>
                            <a:srgbClr val="253440"/>
                          </a:solidFill>
                          <a:latin typeface="Bitstream Charter"/>
                          <a:ea typeface="Bitstream Charter"/>
                          <a:cs typeface="Bitstream Charter"/>
                        </a:rPr>
                        <a:t>LightGBM</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16,24%</a:t>
                      </a:r>
                    </a:p>
                  </a:txBody>
                  <a:tcPr marL="114300" marR="114300" marT="114300" marB="114300">
                    <a:solidFill>
                      <a:srgbClr val="FFFFFF"/>
                    </a:solidFill>
                  </a:tcPr>
                </a:tc>
                <a:tc>
                  <a:txBody>
                    <a:bodyPr/>
                    <a:lstStyle/>
                    <a:p>
                      <a:r>
                        <a:rPr sz="1875">
                          <a:solidFill>
                            <a:srgbClr val="253440"/>
                          </a:solidFill>
                          <a:latin typeface="Bitstream Charter"/>
                          <a:ea typeface="Bitstream Charter"/>
                          <a:cs typeface="Bitstream Charter"/>
                        </a:rPr>
                        <a:t>0,426</a:t>
                      </a:r>
                    </a:p>
                  </a:txBody>
                  <a:tcPr marL="114300" marR="114300" marT="114300" marB="11430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3101F31-0DD2-4EE2-81E8-8538170AE011}"/>
              </a:ext>
            </a:extLst>
          </p:cNvPr>
          <p:cNvSpPr>
            <a:spLocks xmlns:a="http://schemas.openxmlformats.org/drawingml/2006/main" noGrp="1"/>
          </p:cNvSpPr>
          <p:nvPr/>
        </p:nvSpPr>
        <p:spPr>
          <a:xfrm xmlns:a="http://schemas.openxmlformats.org/drawingml/2006/main">
            <a:off x="609600" y="58197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47482"/>
                </a:solidFill>
                <a:latin typeface="Bitstream Charter"/>
                <a:ea typeface="Bitstream Charter"/>
                <a:cs typeface="Bitstream Charter"/>
              </a:defRPr>
            </a:pPr>
            <a:r>
              <a:rPr sz="1800" b="0">
                <a:solidFill>
                  <a:srgbClr val="647482"/>
                </a:solidFill>
                <a:latin typeface="Bitstream Charter"/>
                <a:ea typeface="Bitstream Charter"/>
                <a:cs typeface="Bitstream Charter"/>
              </a:rPr>
              <a:t>31/07 – 15/08/2017 · 28.512 observaciones por modelo</a:t>
            </a:r>
          </a:p>
        </p:txBody>
      </p:sp>
    </p:spTree>
    <p:extLst>
      <p:ext uri="{BB962C8B-B14F-4D97-AF65-F5344CB8AC3E}">
        <p14:creationId xmlns:p14="http://schemas.microsoft.com/office/powerpoint/2010/main" val="9833835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2A60EC-3FB8-49BF-A977-6FF6539D4777}"/>
              </a:ext>
            </a:extLst>
          </p:cNvPr>
          <p:cNvSpPr>
            <a:spLocks xmlns:a="http://schemas.openxmlformats.org/drawingml/2006/main" noGrp="1"/>
          </p:cNvSpPr>
          <p:nvPr/>
        </p:nvSpPr>
        <p:spPr>
          <a:xfrm xmlns:a="http://schemas.openxmlformats.org/drawingml/2006/main">
            <a:off x="609600" y="4095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445A"/>
                </a:solidFill>
                <a:latin typeface="Bitstream Charter"/>
                <a:ea typeface="Bitstream Charter"/>
                <a:cs typeface="Bitstream Charter"/>
              </a:defRPr>
            </a:pPr>
            <a:r>
              <a:rPr sz="3300" b="1">
                <a:solidFill>
                  <a:srgbClr val="24445A"/>
                </a:solidFill>
                <a:latin typeface="Bitstream Charter"/>
                <a:ea typeface="Bitstream Charter"/>
                <a:cs typeface="Bitstream Charter"/>
              </a:rPr>
              <a:t>Entrega y uso del resultado</a:t>
            </a:r>
          </a:p>
        </p:txBody>
      </p:sp>
      <p:sp>
        <p:nvSpPr>
          <p:cNvPr id="2" name="">
            <a:extLst xmlns:a="http://schemas.openxmlformats.org/drawingml/2006/main">
              <a:ext uri="{FF2B5EF4-FFF2-40B4-BE49-F238E27FC236}">
                <a16:creationId xmlns:a16="http://schemas.microsoft.com/office/drawing/2014/main" id="{A47AE7CF-7F68-4371-9CB3-B2795CEE718C}"/>
              </a:ext>
            </a:extLst>
          </p:cNvPr>
          <p:cNvSpPr>
            <a:spLocks xmlns:a="http://schemas.openxmlformats.org/drawingml/2006/main" noGrp="1"/>
          </p:cNvSpPr>
          <p:nvPr/>
        </p:nvSpPr>
        <p:spPr>
          <a:xfrm xmlns:a="http://schemas.openxmlformats.org/drawingml/2006/main">
            <a:off x="609600" y="6381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TFM · Adel Toutouh El Bouchti</a:t>
            </a:r>
          </a:p>
        </p:txBody>
      </p:sp>
      <p:sp>
        <p:nvSpPr>
          <p:cNvPr id="3" name="">
            <a:extLst xmlns:a="http://schemas.openxmlformats.org/drawingml/2006/main">
              <a:ext uri="{FF2B5EF4-FFF2-40B4-BE49-F238E27FC236}">
                <a16:creationId xmlns:a16="http://schemas.microsoft.com/office/drawing/2014/main" id="{BB35F858-C27E-48ED-9634-B8E74F81419D}"/>
              </a:ext>
            </a:extLst>
          </p:cNvPr>
          <p:cNvSpPr>
            <a:spLocks xmlns:a="http://schemas.openxmlformats.org/drawingml/2006/main" noGrp="1"/>
          </p:cNvSpPr>
          <p:nvPr/>
        </p:nvSpPr>
        <p:spPr>
          <a:xfrm xmlns:a="http://schemas.openxmlformats.org/drawingml/2006/main">
            <a:off x="11182350" y="63817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47482"/>
                </a:solidFill>
                <a:latin typeface="Bitstream Charter"/>
                <a:ea typeface="Bitstream Charter"/>
                <a:cs typeface="Bitstream Charter"/>
              </a:defRPr>
            </a:pPr>
            <a:r>
              <a:rPr sz="1275" b="0">
                <a:solidFill>
                  <a:srgbClr val="647482"/>
                </a:solidFill>
                <a:latin typeface="Bitstream Charter"/>
                <a:ea typeface="Bitstream Charter"/>
                <a:cs typeface="Bitstream Charter"/>
              </a:rPr>
              <a:t>6</a:t>
            </a:r>
          </a:p>
        </p:txBody>
      </p:sp>
      <p:sp>
        <p:nvSpPr>
          <p:cNvPr id="4" name="">
            <a:extLst xmlns:a="http://schemas.openxmlformats.org/drawingml/2006/main">
              <a:ext uri="{FF2B5EF4-FFF2-40B4-BE49-F238E27FC236}">
                <a16:creationId xmlns:a16="http://schemas.microsoft.com/office/drawing/2014/main" id="{3EEBE425-F010-4A31-93B9-007CBDEC47CF}"/>
              </a:ext>
            </a:extLst>
          </p:cNvPr>
          <p:cNvSpPr>
            <a:spLocks xmlns:a="http://schemas.openxmlformats.org/drawingml/2006/main" noGrp="1"/>
          </p:cNvSpPr>
          <p:nvPr/>
        </p:nvSpPr>
        <p:spPr>
          <a:xfrm xmlns:a="http://schemas.openxmlformats.org/drawingml/2006/main">
            <a:off x="609600" y="1581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445A"/>
                </a:solidFill>
                <a:latin typeface="Bitstream Charter"/>
                <a:ea typeface="Bitstream Charter"/>
                <a:cs typeface="Bitstream Charter"/>
              </a:defRPr>
            </a:pPr>
            <a:r>
              <a:rPr sz="2550" b="1">
                <a:solidFill>
                  <a:srgbClr val="24445A"/>
                </a:solidFill>
                <a:latin typeface="Bitstream Charter"/>
                <a:ea typeface="Bitstream Charter"/>
                <a:cs typeface="Bitstream Charter"/>
              </a:rPr>
              <a:t>28.512 previsiones · 16–31 de agosto de 2017</a:t>
            </a:r>
          </a:p>
        </p:txBody>
      </p:sp>
      <p:graphicFrame>
        <p:nvGraphicFramePr>
          <p:cNvPr id="12" name=""/>
          <p:cNvGraphicFramePr/>
          <p:nvPr/>
        </p:nvGraphicFramePr>
        <p:xfrm>
          <a:off xmlns:a="http://schemas.openxmlformats.org/drawingml/2006/main" x="609600" y="2505075"/>
          <a:ext xmlns:a="http://schemas.openxmlformats.org/drawingml/2006/main" cx="10972800" cy="2333625"/>
        </p:xfrm>
        <a:graphic xmlns:a="http://schemas.openxmlformats.org/drawingml/2006/main">
          <a:graphicData uri="http://schemas.openxmlformats.org/drawingml/2006/table">
            <a:tbl>
              <a:tblPr/>
              <a:tblGrid>
                <a:gridCol w="3171825"/>
                <a:gridCol w="7800975"/>
              </a:tblGrid>
              <a:tr h="777875">
                <a:tc>
                  <a:txBody>
                    <a:bodyPr/>
                    <a:lstStyle/>
                    <a:p>
                      <a:r>
                        <a:rPr sz="2025" b="1">
                          <a:solidFill>
                            <a:srgbClr val="24445A"/>
                          </a:solidFill>
                          <a:latin typeface="Bitstream Charter"/>
                          <a:ea typeface="Bitstream Charter"/>
                          <a:cs typeface="Bitstream Charter"/>
                        </a:rPr>
                        <a:t>Página de Power BI</a:t>
                      </a:r>
                    </a:p>
                  </a:txBody>
                  <a:tcPr marL="114300" marR="114300" marT="114300" marB="114300">
                    <a:solidFill>
                      <a:srgbClr val="E9F0F4"/>
                    </a:solidFill>
                  </a:tcPr>
                </a:tc>
                <a:tc>
                  <a:txBody>
                    <a:bodyPr/>
                    <a:lstStyle/>
                    <a:p>
                      <a:r>
                        <a:rPr sz="2025" b="1">
                          <a:solidFill>
                            <a:srgbClr val="24445A"/>
                          </a:solidFill>
                          <a:latin typeface="Bitstream Charter"/>
                          <a:ea typeface="Bitstream Charter"/>
                          <a:cs typeface="Bitstream Charter"/>
                        </a:rPr>
                        <a:t>Qué permite consultar</a:t>
                      </a:r>
                    </a:p>
                  </a:txBody>
                  <a:tcPr marL="114300" marR="114300" marT="114300" marB="114300">
                    <a:solidFill>
                      <a:srgbClr val="E9F0F4"/>
                    </a:solidFill>
                  </a:tcPr>
                </a:tc>
              </a:tr>
              <a:tr h="777875">
                <a:tc>
                  <a:txBody>
                    <a:bodyPr/>
                    <a:lstStyle/>
                    <a:p>
                      <a:r>
                        <a:rPr sz="2025">
                          <a:solidFill>
                            <a:srgbClr val="253440"/>
                          </a:solidFill>
                          <a:latin typeface="Bitstream Charter"/>
                          <a:ea typeface="Bitstream Charter"/>
                          <a:cs typeface="Bitstream Charter"/>
                        </a:rPr>
                        <a:t>Previsión</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Histórico, forecast, tienda, familia, modelo y exportación CSV</a:t>
                      </a:r>
                    </a:p>
                  </a:txBody>
                  <a:tcPr marL="114300" marR="114300" marT="114300" marB="114300">
                    <a:solidFill>
                      <a:srgbClr val="FFFFFF"/>
                    </a:solidFill>
                  </a:tcPr>
                </a:tc>
              </a:tr>
              <a:tr h="777875">
                <a:tc>
                  <a:txBody>
                    <a:bodyPr/>
                    <a:lstStyle/>
                    <a:p>
                      <a:r>
                        <a:rPr sz="2025">
                          <a:solidFill>
                            <a:srgbClr val="253440"/>
                          </a:solidFill>
                          <a:latin typeface="Bitstream Charter"/>
                          <a:ea typeface="Bitstream Charter"/>
                          <a:cs typeface="Bitstream Charter"/>
                        </a:rPr>
                        <a:t>Evaluación</a:t>
                      </a:r>
                    </a:p>
                  </a:txBody>
                  <a:tcPr marL="114300" marR="114300" marT="114300" marB="114300">
                    <a:solidFill>
                      <a:srgbClr val="FFFFFF"/>
                    </a:solidFill>
                  </a:tcPr>
                </a:tc>
                <a:tc>
                  <a:txBody>
                    <a:bodyPr/>
                    <a:lstStyle/>
                    <a:p>
                      <a:r>
                        <a:rPr sz="2025">
                          <a:solidFill>
                            <a:srgbClr val="253440"/>
                          </a:solidFill>
                          <a:latin typeface="Bitstream Charter"/>
                          <a:ea typeface="Bitstream Charter"/>
                          <a:cs typeface="Bitstream Charter"/>
                        </a:rPr>
                        <a:t>MAE, WAPE y error por familia y horizonte en el test interno</a:t>
                      </a:r>
                    </a:p>
                  </a:txBody>
                  <a:tcPr marL="114300" marR="11430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A1F1A8C-87D4-470D-BF77-8C088D7526AE}"/>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440"/>
                </a:solidFill>
                <a:latin typeface="Bitstream Charter"/>
                <a:ea typeface="Bitstream Charter"/>
                <a:cs typeface="Bitstream Charter"/>
              </a:defRPr>
            </a:pPr>
            <a:r>
              <a:rPr sz="1950" b="0">
                <a:solidFill>
                  <a:srgbClr val="253440"/>
                </a:solidFill>
                <a:latin typeface="Bitstream Charter"/>
                <a:ea typeface="Bitstream Charter"/>
                <a:cs typeface="Bitstream Charter"/>
              </a:rPr>
              <a:t>Comprobados: datos, métricas y estructura del proyecto PBIP.</a:t>
            </a:r>
          </a:p>
        </p:txBody>
      </p:sp>
      <p:sp>
        <p:nvSpPr>
          <p:cNvPr id="7" name="">
            <a:extLst xmlns:a="http://schemas.openxmlformats.org/drawingml/2006/main">
              <a:ext uri="{FF2B5EF4-FFF2-40B4-BE49-F238E27FC236}">
                <a16:creationId xmlns:a16="http://schemas.microsoft.com/office/drawing/2014/main" id="{C7A73F23-89A3-4839-B830-F1828C7ABB6D}"/>
              </a:ext>
            </a:extLst>
          </p:cNvPr>
          <p:cNvSpPr>
            <a:spLocks xmlns:a="http://schemas.openxmlformats.org/drawingml/2006/main" noGrp="1"/>
          </p:cNvSpPr>
          <p:nvPr/>
        </p:nvSpPr>
        <p:spPr>
          <a:xfrm xmlns:a="http://schemas.openxmlformats.org/drawingml/2006/main">
            <a:off x="609600" y="5686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482"/>
                </a:solidFill>
                <a:latin typeface="Bitstream Charter"/>
                <a:ea typeface="Bitstream Charter"/>
                <a:cs typeface="Bitstream Charter"/>
              </a:defRPr>
            </a:pPr>
            <a:r>
              <a:rPr sz="1725" b="0">
                <a:solidFill>
                  <a:srgbClr val="647482"/>
                </a:solidFill>
                <a:latin typeface="Bitstream Charter"/>
                <a:ea typeface="Bitstream Charter"/>
                <a:cs typeface="Bitstream Charter"/>
              </a:rPr>
              <a:t>Pendiente: apertura y refresco en Desktop.</a:t>
            </a:r>
          </a:p>
          <a:p xmlns:a="http://schemas.openxmlformats.org/drawingml/2006/main">
            <a:pPr>
              <a:defRPr sz="1725" b="0">
                <a:solidFill>
                  <a:srgbClr val="647482"/>
                </a:solidFill>
                <a:latin typeface="Bitstream Charter"/>
                <a:ea typeface="Bitstream Charter"/>
                <a:cs typeface="Bitstream Charter"/>
              </a:defRPr>
            </a:pPr>
            <a:r>
              <a:rPr sz="1725" b="0">
                <a:solidFill>
                  <a:srgbClr val="647482"/>
                </a:solidFill>
                <a:latin typeface="Bitstream Charter"/>
                <a:ea typeface="Bitstream Charter"/>
                <a:cs typeface="Bitstream Charter"/>
              </a:rPr>
              <a:t>Límite: ventas registradas; no stock, demanda insatisfecha ni ahorro.</a:t>
            </a:r>
          </a:p>
        </p:txBody>
      </p:sp>
    </p:spTree>
    <p:extLst>
      <p:ext uri="{BB962C8B-B14F-4D97-AF65-F5344CB8AC3E}">
        <p14:creationId xmlns:p14="http://schemas.microsoft.com/office/powerpoint/2010/main" val="784182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2026-10-04T18:30:55.4180000Z</dcterms:created>
  <dcterms:modified xsi:type="dcterms:W3CDTF">2026-10-04T18:30:55.4180000Z</dcterms:modified>
</coreProperties>
</file>